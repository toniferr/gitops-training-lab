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57800"/>
            <a:ext cx="12192000" cy="1600200"/>
          </a:xfrm>
          <a:prstGeom prst="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FORMACIÓN INTERNA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GitOps y Kubernetes con Flux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De manifiestos locales a un clúster que se reconcilia solo, con Git como fuente de verdad.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" y="4137659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30-40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420624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minutos: 10-15 de teoría + práctica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gitops-training-lab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  ·   </a:t>
            </a:r>
            <a:r>
              <a:rPr sz="1300" b="1" i="0">
                <a:solidFill>
                  <a:srgbClr val="FFFFFF"/>
                </a:solidFill>
                <a:latin typeface="Consolas"/>
              </a:rPr>
              <a:t>cac-gitops-platform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  ·   </a:t>
            </a:r>
            <a:r>
              <a:rPr sz="1300" b="1" i="0">
                <a:solidFill>
                  <a:srgbClr val="FFFFFF"/>
                </a:solidFill>
                <a:latin typeface="Consolas"/>
              </a:rPr>
              <a:t>java-api-gitops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Tres repositorios, tres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B637D"/>
                </a:solidFill>
                <a:latin typeface="Calibri"/>
              </a:rPr>
              <a:t>El repositorio de plataforma es la fuente de verdad del clúster; este repo es solo la guía.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2980" y="22860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30552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gitops-training-lab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103120"/>
            <a:ext cx="6035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2F42"/>
                </a:solidFill>
                <a:latin typeface="Calibri"/>
              </a:rPr>
              <a:t>Guía didáctica: explicaciones, runbooks de instructor, ejercicios de alumno, validación.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73552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2980" y="359359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38144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cac-gitops-platform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10712"/>
            <a:ext cx="6035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2F42"/>
                </a:solidFill>
                <a:latin typeface="Calibri"/>
              </a:rPr>
              <a:t>Bootstrap de Flux, namespaces, y qué aplicaciones observa el clúster.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81144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2980" y="4901183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45736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java-api-gitops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718304"/>
            <a:ext cx="6035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2F42"/>
                </a:solidFill>
                <a:latin typeface="Calibri"/>
              </a:rPr>
              <a:t>Código Spring Boot, Dockerfile, y los manifiestos Kubernetes de la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Kubernetes no ejecuta órdenes: reconcilia estado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B637D"/>
                </a:solidFill>
                <a:latin typeface="Calibri"/>
              </a:rPr>
              <a:t>Esta idea prepara Flux — GitOps usa el mismo patrón, con Git como entrada estable.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346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YAML /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B2F42"/>
                </a:solidFill>
                <a:latin typeface="Calibri"/>
              </a:rPr>
              <a:t>Declaras qué quieres, no cómo hacerlo.</a:t>
            </a:r>
          </a:p>
        </p:txBody>
      </p:sp>
      <p:sp>
        <p:nvSpPr>
          <p:cNvPr id="8" name="Chevron 7"/>
          <p:cNvSpPr/>
          <p:nvPr/>
        </p:nvSpPr>
        <p:spPr>
          <a:xfrm>
            <a:off x="3172968" y="3520440"/>
            <a:ext cx="283464" cy="3657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28346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0175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API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5204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B2F42"/>
                </a:solidFill>
                <a:latin typeface="Calibri"/>
              </a:rPr>
              <a:t>Guarda ese estado deseado.</a:t>
            </a:r>
          </a:p>
        </p:txBody>
      </p:sp>
      <p:sp>
        <p:nvSpPr>
          <p:cNvPr id="12" name="Chevron 11"/>
          <p:cNvSpPr/>
          <p:nvPr/>
        </p:nvSpPr>
        <p:spPr>
          <a:xfrm>
            <a:off x="5870448" y="3520440"/>
            <a:ext cx="283464" cy="3657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8346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Controlador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5204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B2F42"/>
                </a:solidFill>
                <a:latin typeface="Calibri"/>
              </a:rPr>
              <a:t>Observa la diferencia y actúa.</a:t>
            </a:r>
          </a:p>
        </p:txBody>
      </p:sp>
      <p:sp>
        <p:nvSpPr>
          <p:cNvPr id="16" name="Chevron 15"/>
          <p:cNvSpPr/>
          <p:nvPr/>
        </p:nvSpPr>
        <p:spPr>
          <a:xfrm>
            <a:off x="8567928" y="3520440"/>
            <a:ext cx="283464" cy="3657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0" y="28346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30175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5204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2B2F42"/>
                </a:solidFill>
                <a:latin typeface="Calibri"/>
              </a:rPr>
              <a:t>Reporta el estado real observado.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B637D"/>
                </a:solidFill>
                <a:latin typeface="Calibri"/>
              </a:rPr>
              <a:t>El controlador repite este ciclo sin fin: comparar spec vs. status, y actuar si difieren.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Vocabulario de la API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B637D"/>
                </a:solidFill>
                <a:latin typeface="Calibri"/>
              </a:rPr>
              <a:t>Antes de hablar de Flux, cada objeto debe poder explicarse con una frase.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1540" y="25603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1284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Namespace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606040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Dónde viven los recursos de java-api. Debe existir antes que el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5100" y="25603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21284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606040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api-java-gitops: replicas, estrategia de rollout y rollback.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540" y="44805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13308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26280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ClusterIP java-api: IP estable y balanceo hacia los Pods.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3192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5100" y="44805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13308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ConfigMap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526280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java-api-config: configuración fuera de la imagen, vía variables de entorno.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Anatomía de un manifiesto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B637D"/>
                </a:solidFill>
                <a:latin typeface="Calibri"/>
              </a:rPr>
              <a:t>Todo objeto cuenta la misma historia: quién soy, qué quiero, qué está ocurriendo.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120640" cy="3840480"/>
          </a:xfrm>
          <a:prstGeom prst="roundRect">
            <a:avLst>
              <a:gd name="adj" fmla="val 4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164592"/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apiVersion: apps/v1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kind: Deployment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metadata: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  name: api-java-gitops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  labels: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    app.kubernetes.io/name: java-api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spec: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  replicas: 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status: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  availableReplicas: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20574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apiVersion + kind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24231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Tipo de contrato con Kubernetes.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834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32004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Nombre, labels, namespace.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6118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39776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Estado deseado por el equipo — lo que edita Git.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4389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47548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Estado observado por el clúster — lo que reporta kubectl.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5257799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5B637D"/>
                </a:solidFill>
                <a:latin typeface="Calibri"/>
              </a:rPr>
              <a:t>Regla de la demo: no leas todo el YAML; señala solo el campo que cambia de decisión.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GitOps: Git como contrato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B637D"/>
                </a:solidFill>
                <a:latin typeface="Calibri"/>
              </a:rPr>
              <a:t>Git deja de ser solo historial y pasa a ser la entrada que el clúster obedece.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Pull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637D"/>
                </a:solidFill>
                <a:latin typeface="Calibri"/>
              </a:rPr>
              <a:t>cambio revisado</a:t>
            </a:r>
          </a:p>
        </p:txBody>
      </p:sp>
      <p:sp>
        <p:nvSpPr>
          <p:cNvPr id="8" name="Chevron 7"/>
          <p:cNvSpPr/>
          <p:nvPr/>
        </p:nvSpPr>
        <p:spPr>
          <a:xfrm>
            <a:off x="3127248" y="2971800"/>
            <a:ext cx="283464" cy="3657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461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estado deseado</a:t>
            </a:r>
          </a:p>
        </p:txBody>
      </p:sp>
      <p:sp>
        <p:nvSpPr>
          <p:cNvPr id="12" name="Chevron 11"/>
          <p:cNvSpPr/>
          <p:nvPr/>
        </p:nvSpPr>
        <p:spPr>
          <a:xfrm>
            <a:off x="5779007" y="2971800"/>
            <a:ext cx="283464" cy="3657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59" y="2377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Flux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461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reconciliador</a:t>
            </a:r>
          </a:p>
        </p:txBody>
      </p:sp>
      <p:sp>
        <p:nvSpPr>
          <p:cNvPr id="16" name="Chevron 15"/>
          <p:cNvSpPr/>
          <p:nvPr/>
        </p:nvSpPr>
        <p:spPr>
          <a:xfrm>
            <a:off x="8430767" y="2971800"/>
            <a:ext cx="283464" cy="365760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32519" y="2377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69748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2461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637D"/>
                </a:solidFill>
                <a:latin typeface="Calibri"/>
              </a:rPr>
              <a:t>ejecución real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34340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52628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Drift → corrección continua: cada intervalo, Flux vuelve a comparar y a aplicar.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TEORÍA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Flux: dos controladores hacen todo 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B637D"/>
                </a:solidFill>
                <a:latin typeface="Calibri"/>
              </a:rPr>
              <a:t>Flux se entiende mejor como controladores pequeños y especializados.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128016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39" y="24688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286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source-controller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74320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2F42"/>
                </a:solidFill>
                <a:latin typeface="Calibri"/>
              </a:rPr>
              <a:t>Lee el GitRepository "java-api" cada 1 min y clona java-api-gitops.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0881360" cy="128016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39" y="39319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74903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E2761"/>
                </a:solidFill>
                <a:latin typeface="Consolas"/>
              </a:rPr>
              <a:t>kustomize-controller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20624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2F42"/>
                </a:solidFill>
                <a:latin typeface="Calibri"/>
              </a:rPr>
              <a:t>Aplica ./k8s con prune, wait y timeout: 2 min, cada 5 min.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helm-controller y notification-controller ya están instalados pero inactivos; solo image-automation llega en próximas formaciones.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DEMO EN VIVO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Un commit se convierte en estado del clúster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88136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13969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48256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Editar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48256"/>
            <a:ext cx="7406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En tu fork, cambia replicas: 2 → 1 en java-api-gitops/k8s/deployment.yaml.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88136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19125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99816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Commit +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99816"/>
            <a:ext cx="7406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A la rama training/01-gitops-flux-foundations de tu fork.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88136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24281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51376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Reconciliar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151376"/>
            <a:ext cx="7406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onsolas"/>
              </a:rPr>
              <a:t>flux reconcile source git java-api -n flux-system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74920"/>
            <a:ext cx="1088136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29437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202936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Verificar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202936"/>
            <a:ext cx="7406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onsolas"/>
              </a:rPr>
              <a:t>kubectl rollout status deployment/api-java-gitops -n java-api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DEMO EN VIVO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Provocar drift y verlo corregirse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4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164592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Consolas"/>
              </a:rPr>
              <a:t>kubectl scale deployment/api-java-gitops -n java-api --replicas=3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Consolas"/>
              </a:rPr>
              <a:t>kubectl get deployment/api-java-gitops -n java-api        # 3/3, momentáneamente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B637D"/>
                </a:solidFill>
                <a:latin typeface="Calibri"/>
              </a:rPr>
              <a:t>Flux no vigila en tiempo real: en el siguiente intervalo, vuelve a aplicar Git.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10881360" cy="1234440"/>
          </a:xfrm>
          <a:prstGeom prst="roundRect">
            <a:avLst>
              <a:gd name="adj" fmla="val 4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164592"/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Consolas"/>
              </a:rPr>
              <a:t>flux reconcile kustomization java-api -n flux-system --with-source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ADCFC"/>
                </a:solidFill>
                <a:latin typeface="Consolas"/>
              </a:rPr>
              <a:t>kubectl get deployment/api-java-gitops -n java-api        # vuelve a 1/1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B637D"/>
                </a:solidFill>
                <a:latin typeface="Calibri"/>
              </a:rPr>
              <a:t>No es magia: kubectl apply reaplicado sobre un objeto que se desvió de su YAML.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CIERRE DE LA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Rollback por Git, y qué evitar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Rollback correcto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4709160" cy="777240"/>
          </a:xfrm>
          <a:prstGeom prst="roundRect">
            <a:avLst>
              <a:gd name="adj" fmla="val 4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64592" bIns="164592"/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git revert &lt;commit&gt;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onsolas"/>
              </a:rPr>
              <a:t>git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709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B2F42"/>
                </a:solidFill>
                <a:latin typeface="Calibri"/>
              </a:rPr>
              <a:t>Flux reconcilia el estado revertido igual que cualquier otro commit. No uses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2B2F42"/>
                </a:solidFill>
                <a:latin typeface="Consolas"/>
              </a:rPr>
              <a:t>kubectl rollout undo</a:t>
            </a:r>
            <a:r>
              <a:rPr sz="1300" b="0" i="0">
                <a:solidFill>
                  <a:srgbClr val="2B2F42"/>
                </a:solidFill>
                <a:latin typeface="Calibri"/>
              </a:rPr>
              <a:t>: cambia el clúster sin cambiar Git, y Flux lo deshace en el próximo ciclo.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Evita en la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43200"/>
            <a:ext cx="47091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2B2F42"/>
                </a:solidFill>
                <a:latin typeface="Calibri"/>
              </a:rPr>
              <a:t>Editar el ConfigMap como demo visible: es env var, no reinicia el Pod existente.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2B2F42"/>
                </a:solidFill>
                <a:latin typeface="Calibri"/>
              </a:rPr>
              <a:t>kubectl apply manual contra java-api: Flux ya lo gestiona; hacerlo a mano confunde el origen de verdad.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37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DESPUÉS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Qué sigue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02 · Kustomize y entornos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5000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Bases y overlays para variar la app por entorno.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03 · Entrega de imágenes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Publicar una imagen y actualizar su versión declarada.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04 · Secretos y políticas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7024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Secretos cifrados y políticas de admisión.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66360" cy="3611880"/>
          </a:xfrm>
          <a:prstGeom prst="roundRect">
            <a:avLst>
              <a:gd name="adj" fmla="val 6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Referencias de estudio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14600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onsolas"/>
              </a:rPr>
              <a:t>Recorrido por el clúster Kind — docs/es/reference/recorrido-cluster-kind.md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81528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onsolas"/>
              </a:rPr>
              <a:t>Recorrido post-bootstrap — docs/es/reference/recorrido-post-bootstrap.md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48456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onsolas"/>
              </a:rPr>
              <a:t>Conceptos de Kubernetes — docs/es/reference/conceptos-kubernetes.md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215384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onsolas"/>
              </a:rPr>
              <a:t>Arquitectura de Flux — docs/es/reference/arquitectura-flux.md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78231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onsolas"/>
              </a:rPr>
              <a:t>Chuleta de kubectl — docs/es/reference/chuleta-kubectl.md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CADCFC"/>
                </a:solidFill>
                <a:latin typeface="Calibri"/>
              </a:rPr>
              <a:t>Practica cuando quieras en tu fork: rama training/01-gitops-flux-foundations.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GitOps Lab | gitops-training-lab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61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